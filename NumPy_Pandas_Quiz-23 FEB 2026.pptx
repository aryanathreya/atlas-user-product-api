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1261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12801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45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411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&amp; Pandas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2004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Data Science Series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INFORMATION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8046720" cy="475488"/>
          </a:xfrm>
          <a:prstGeom prst="rect">
            <a:avLst/>
          </a:prstGeom>
          <a:solidFill>
            <a:srgbClr val="16213E"/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ARYAN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/ SECTION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8046720" cy="475488"/>
          </a:xfrm>
          <a:prstGeom prst="rect">
            <a:avLst/>
          </a:prstGeom>
          <a:solidFill>
            <a:srgbClr val="16213E"/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CAPGEMENI SOGETI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36576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945636"/>
            <a:ext cx="8046720" cy="475488"/>
          </a:xfrm>
          <a:prstGeom prst="rect">
            <a:avLst/>
          </a:prstGeom>
          <a:solidFill>
            <a:srgbClr val="16213E"/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7116051</a:t>
            </a:r>
          </a:p>
        </p:txBody>
      </p:sp>
      <p:sp>
        <p:nvSpPr>
          <p:cNvPr id="14" name="Shape 12"/>
          <p:cNvSpPr/>
          <p:nvPr/>
        </p:nvSpPr>
        <p:spPr>
          <a:xfrm>
            <a:off x="457200" y="4526280"/>
            <a:ext cx="3840480" cy="41148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45445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_______23/2/2026_______________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754880" y="4526280"/>
            <a:ext cx="3749040" cy="41148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45445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Marks: ____  /  30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19202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0"/>
            <a:ext cx="228600" cy="19202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Arrays &amp; Operations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1–5  ·  Broadcasting, Indexing &amp; Numerical Computing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Questions × 1 Mark = 5 Marks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OPERATIONS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following NumPy operation return?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np.array([1, 2, 3]) * 3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[3, 6, 9]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[1, 2, 3, 1, 2, 3, 1, 2, 3]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[3, 3, 3]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– cannot multiply array by scalar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______A_</a:t>
            </a:r>
            <a:endParaRPr lang="en-US" sz="13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following NumPy array shapes are broadcast-compatible?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(3, 4) and (5, 4)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(3,) and (3, 3)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(4, 1) and (1, 4)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 and C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______B_</a:t>
            </a:r>
            <a:endParaRPr lang="en-US" sz="13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&amp; SLICING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arr = np.array([[1,2,3],[4,5,6],[7,8,9]]), what does arr[1:, ::2] return?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[[4, 6], [7, 9]]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[[4, 5, 6], [7, 8, 9]]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[[4, 6], [7, 9]]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[[5, 6], [8, 9]]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______A_</a:t>
            </a:r>
            <a:endParaRPr lang="en-US" sz="13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COMPUTATIONS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NumPy function computes the dot product of two 1-D arrays?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np.multiply()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np.dot()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np.cross()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np.sum()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______B_</a:t>
            </a:r>
            <a:endParaRPr lang="en-US" sz="13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OPERATIONS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output of np.arange(2, 10, 3)?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[2, 5, 8, 11]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[2, 5, 8]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[3, 6, 9]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[2, 4, 6, 8]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______B_</a:t>
            </a:r>
            <a:endParaRPr lang="en-US" sz="13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19202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0"/>
            <a:ext cx="228600" cy="1920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— Series &amp; DataFrames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6–12  ·  Data Loading, Filtering, Sorting &amp; Wrangling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Questions × 1 Mark = 7 Marks  +  3 Short Answer × 2 Marks = 6 Marks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&amp; DATAFRAMES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Pandas method is used to read a CSV file into a DataFrame?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pd.read_table()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pd.read_csv()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pd.load_csv()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pd.import_csv()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______B_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parameter in pd.read_excel() specifies which sheet to load?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tab_name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sheet_index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sheet_name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worksheet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______C_</a:t>
            </a:r>
            <a:endParaRPr lang="en-US" sz="13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df with a column 'Age', which expression filters rows where Age &gt; 25?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df[df.Age &gt; 25]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df.filter(Age &gt; 25)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df.where('Age &gt; 25')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df.query['Age &gt; 25']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______A_</a:t>
            </a:r>
            <a:endParaRPr lang="en-US" sz="13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&amp; GROUPING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method sorts a DataFrame by the 'Score' column in descending order?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df.sort('Score', desc=True)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df.order_by('Score', ascending=False)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df.sort_values('Score', ascending=False)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df.arrange('Score', reverse=True)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______C_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df.groupby('Dept')['Salary'].mean() return?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mean salary value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salary grouped by department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salary of the 'Dept' column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– cannot group then mean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______B_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method combines two DataFrames horizontally (column-wise)?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pd.concat([df1, df2], axis=0)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pd.concat([df1, df2], axis=1)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df1.append(df2)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pd.merge(df1, df2, how='outer')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______</a:t>
            </a: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df.dropna() do to a DataFrame?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all columns with NaN values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NaN values with 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all rows containing NaN values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NaN with the column mean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______</a:t>
            </a: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28600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– GROUPBY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 Marks]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9144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ANSWER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1887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split-apply-combine strategy used by groupby() in Pandas. Provide a real-world example showing how groupby() with an aggregation function is used.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88036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42900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97764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452628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59" y="2176271"/>
            <a:ext cx="8353697" cy="1893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</a:t>
            </a:r>
            <a:r>
              <a:rPr lang="en-US" sz="1100" dirty="0">
                <a:solidFill>
                  <a:schemeClr val="bg1"/>
                </a:solidFill>
              </a:rPr>
              <a:t>The split-apply-combine strategy used </a:t>
            </a:r>
            <a:r>
              <a:rPr lang="en-US" sz="1000" dirty="0">
                <a:solidFill>
                  <a:schemeClr val="bg1"/>
                </a:solidFill>
              </a:rPr>
              <a:t>by </a:t>
            </a:r>
            <a:r>
              <a:rPr lang="en-US" sz="1000" dirty="0" err="1">
                <a:solidFill>
                  <a:schemeClr val="bg1"/>
                </a:solidFill>
              </a:rPr>
              <a:t>groupby</a:t>
            </a:r>
            <a:r>
              <a:rPr lang="en-US" sz="1000" dirty="0">
                <a:solidFill>
                  <a:schemeClr val="bg1"/>
                </a:solidFill>
              </a:rPr>
              <a:t>() </a:t>
            </a:r>
            <a:r>
              <a:rPr lang="en-US" sz="1100" dirty="0">
                <a:solidFill>
                  <a:schemeClr val="bg1"/>
                </a:solidFill>
              </a:rPr>
              <a:t>in Pandas works in three simple steps. First, the data is </a:t>
            </a:r>
            <a:r>
              <a:rPr lang="en-US" sz="1100" b="1" dirty="0">
                <a:solidFill>
                  <a:schemeClr val="bg1"/>
                </a:solidFill>
              </a:rPr>
              <a:t>split</a:t>
            </a:r>
            <a:r>
              <a:rPr lang="en-US" sz="1100" dirty="0">
                <a:solidFill>
                  <a:schemeClr val="bg1"/>
                </a:solidFill>
              </a:rPr>
              <a:t> into groups based on a column, such as grouping employees by department. Next, a function is </a:t>
            </a:r>
            <a:r>
              <a:rPr lang="en-US" sz="1100" b="1" dirty="0">
                <a:solidFill>
                  <a:schemeClr val="bg1"/>
                </a:solidFill>
              </a:rPr>
              <a:t>applied</a:t>
            </a:r>
            <a:r>
              <a:rPr lang="en-US" sz="1100" dirty="0">
                <a:solidFill>
                  <a:schemeClr val="bg1"/>
                </a:solidFill>
              </a:rPr>
              <a:t> to each group, like calculating the average or maximum score. Finally, the results are </a:t>
            </a:r>
            <a:r>
              <a:rPr lang="en-US" sz="1100" b="1" dirty="0">
                <a:solidFill>
                  <a:schemeClr val="bg1"/>
                </a:solidFill>
              </a:rPr>
              <a:t>combined</a:t>
            </a:r>
            <a:r>
              <a:rPr lang="en-US" sz="1100" dirty="0">
                <a:solidFill>
                  <a:schemeClr val="bg1"/>
                </a:solidFill>
              </a:rPr>
              <a:t> into a new summarized table. For example, if HR wants to find the average performance score per department, they can use </a:t>
            </a:r>
            <a:r>
              <a:rPr lang="en-US" sz="1000" dirty="0" err="1">
                <a:solidFill>
                  <a:schemeClr val="bg1"/>
                </a:solidFill>
              </a:rPr>
              <a:t>df.groupby</a:t>
            </a:r>
            <a:r>
              <a:rPr lang="en-US" sz="1000" dirty="0">
                <a:solidFill>
                  <a:schemeClr val="bg1"/>
                </a:solidFill>
              </a:rPr>
              <a:t>("Department")["Score"].mean(). </a:t>
            </a:r>
            <a:r>
              <a:rPr lang="en-US" sz="1100" dirty="0">
                <a:solidFill>
                  <a:schemeClr val="bg1"/>
                </a:solidFill>
              </a:rPr>
              <a:t>This groups employees by department, calculates the average score for each group, and returns a clear summary that helps management understand departmental performance.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28600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– BROADCASTING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 Marks]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9144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ANSWER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1887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broadcasting in NumPy? State the broadcasting rules and give an example showing how arrays of shapes (3, 1) and (1, 4) would interact.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88036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42900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97764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452628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176271"/>
            <a:ext cx="6888208" cy="13915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r>
              <a:rPr lang="en-US" sz="1100" dirty="0">
                <a:solidFill>
                  <a:schemeClr val="bg1"/>
                </a:solidFill>
              </a:rPr>
              <a:t>Broadcasting in NumPy allows arrays of different shapes to perform operations automatically. Rules: dimensions must match or one must be 1. Comparison starts from the right. For shapes (3,1) and (1,4), NumPy expands them to (3,4), repeating values, allowing element-wise operations like addition across rows and columns.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28600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 Marks]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9144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ANSWER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1887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any TWO common data-wrangling tasks in Pandas. For each task, name the method used and write a one-line code example.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88036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42900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97764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452628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176271"/>
            <a:ext cx="7190286" cy="17017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</a:t>
            </a:r>
            <a:r>
              <a:rPr lang="en-US" sz="1000" dirty="0" err="1">
                <a:solidFill>
                  <a:schemeClr val="bg1"/>
                </a:solidFill>
              </a:rPr>
              <a:t>One</a:t>
            </a:r>
            <a:r>
              <a:rPr lang="en-US" sz="1000" dirty="0">
                <a:solidFill>
                  <a:schemeClr val="bg1"/>
                </a:solidFill>
              </a:rPr>
              <a:t> common data-wrangling task is handling missing data using </a:t>
            </a:r>
            <a:r>
              <a:rPr lang="en-US" sz="1000" dirty="0" err="1">
                <a:solidFill>
                  <a:schemeClr val="bg1"/>
                </a:solidFill>
              </a:rPr>
              <a:t>dropna</a:t>
            </a:r>
            <a:r>
              <a:rPr lang="en-US" sz="1000" dirty="0">
                <a:solidFill>
                  <a:schemeClr val="bg1"/>
                </a:solidFill>
              </a:rPr>
              <a:t>(), for example: </a:t>
            </a:r>
            <a:r>
              <a:rPr lang="en-US" sz="1000" dirty="0" err="1">
                <a:solidFill>
                  <a:schemeClr val="bg1"/>
                </a:solidFill>
              </a:rPr>
              <a:t>df</a:t>
            </a:r>
            <a:r>
              <a:rPr lang="en-US" sz="1000" dirty="0">
                <a:solidFill>
                  <a:schemeClr val="bg1"/>
                </a:solidFill>
              </a:rPr>
              <a:t> = </a:t>
            </a:r>
            <a:r>
              <a:rPr lang="en-US" sz="1000" dirty="0" err="1">
                <a:solidFill>
                  <a:schemeClr val="bg1"/>
                </a:solidFill>
              </a:rPr>
              <a:t>df.dropna</a:t>
            </a:r>
            <a:r>
              <a:rPr lang="en-US" sz="1000" dirty="0">
                <a:solidFill>
                  <a:schemeClr val="bg1"/>
                </a:solidFill>
              </a:rPr>
              <a:t>(), which removes rows with null values. Another task is filtering data using conditions, such as </a:t>
            </a:r>
            <a:r>
              <a:rPr lang="en-US" sz="1000" dirty="0" err="1">
                <a:solidFill>
                  <a:schemeClr val="bg1"/>
                </a:solidFill>
              </a:rPr>
              <a:t>df</a:t>
            </a:r>
            <a:r>
              <a:rPr lang="en-US" sz="1000" dirty="0">
                <a:solidFill>
                  <a:schemeClr val="bg1"/>
                </a:solidFill>
              </a:rPr>
              <a:t> = </a:t>
            </a:r>
            <a:r>
              <a:rPr lang="en-US" sz="1000" dirty="0" err="1">
                <a:solidFill>
                  <a:schemeClr val="bg1"/>
                </a:solidFill>
              </a:rPr>
              <a:t>df</a:t>
            </a:r>
            <a:r>
              <a:rPr lang="en-US" sz="1000" dirty="0">
                <a:solidFill>
                  <a:schemeClr val="bg1"/>
                </a:solidFill>
              </a:rPr>
              <a:t>[</a:t>
            </a:r>
            <a:r>
              <a:rPr lang="en-US" sz="1000" dirty="0" err="1">
                <a:solidFill>
                  <a:schemeClr val="bg1"/>
                </a:solidFill>
              </a:rPr>
              <a:t>df</a:t>
            </a:r>
            <a:r>
              <a:rPr lang="en-US" sz="1000" dirty="0">
                <a:solidFill>
                  <a:schemeClr val="bg1"/>
                </a:solidFill>
              </a:rPr>
              <a:t>["Score"] &gt; 80], which selects only rows where the score is greater than 80.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19456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QUIZ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review all answers before submitting.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2468880"/>
          <a:ext cx="6400800" cy="22860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Section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Topic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Questions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Marks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Section 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NumPy Arrays &amp; Operations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Q1–Q5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5 Marks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Section 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Pandas MCQ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Q6–Q12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7 Marks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Section 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Short Answer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Q13–Q15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6 Marks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</a:rPr>
                        <a:t>TOTAL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</a:rPr>
                        <a:t>30 Marks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1244</Words>
  <Application>Microsoft Office PowerPoint</Application>
  <PresentationFormat>On-screen Show (16:9)</PresentationFormat>
  <Paragraphs>234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NumPy &amp; Pandas Quiz</dc:title>
  <dc:subject>PptxGenJS Presentation</dc:subject>
  <dc:creator>PptxGenJS</dc:creator>
  <cp:lastModifiedBy>Aryan Yadav</cp:lastModifiedBy>
  <cp:revision>2</cp:revision>
  <dcterms:created xsi:type="dcterms:W3CDTF">2026-02-22T18:36:13Z</dcterms:created>
  <dcterms:modified xsi:type="dcterms:W3CDTF">2026-02-23T09:09:37Z</dcterms:modified>
</cp:coreProperties>
</file>